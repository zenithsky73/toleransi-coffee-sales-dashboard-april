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nter Bold" charset="1" panose="02000503000000020004"/>
      <p:regular r:id="rId17"/>
    </p:embeddedFont>
    <p:embeddedFont>
      <p:font typeface="Inter" charset="1" panose="0200050300000002000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Relationship Id="rId3" Target="../media/image11.png" Type="http://schemas.openxmlformats.org/officeDocument/2006/relationships/image"/><Relationship Id="rId4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60456" y="2903222"/>
            <a:ext cx="10463795" cy="8599337"/>
          </a:xfrm>
          <a:custGeom>
            <a:avLst/>
            <a:gdLst/>
            <a:ahLst/>
            <a:cxnLst/>
            <a:rect r="r" b="b" t="t" l="l"/>
            <a:pathLst>
              <a:path h="8599337" w="10463795">
                <a:moveTo>
                  <a:pt x="0" y="0"/>
                </a:moveTo>
                <a:lnTo>
                  <a:pt x="10463795" y="0"/>
                </a:lnTo>
                <a:lnTo>
                  <a:pt x="10463795" y="8599337"/>
                </a:lnTo>
                <a:lnTo>
                  <a:pt x="0" y="85993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069139" y="89678"/>
            <a:ext cx="3446430" cy="3446430"/>
          </a:xfrm>
          <a:custGeom>
            <a:avLst/>
            <a:gdLst/>
            <a:ahLst/>
            <a:cxnLst/>
            <a:rect r="r" b="b" t="t" l="l"/>
            <a:pathLst>
              <a:path h="3446430" w="3446430">
                <a:moveTo>
                  <a:pt x="0" y="0"/>
                </a:moveTo>
                <a:lnTo>
                  <a:pt x="3446429" y="0"/>
                </a:lnTo>
                <a:lnTo>
                  <a:pt x="3446429" y="3446429"/>
                </a:lnTo>
                <a:lnTo>
                  <a:pt x="0" y="34464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23925"/>
            <a:ext cx="10517897" cy="1979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79"/>
              </a:lnSpc>
            </a:pPr>
            <a:r>
              <a:rPr lang="en-US" sz="5699" b="true">
                <a:solidFill>
                  <a:srgbClr val="1F4FD8"/>
                </a:solidFill>
                <a:latin typeface="Inter Bold"/>
                <a:ea typeface="Inter Bold"/>
                <a:cs typeface="Inter Bold"/>
                <a:sym typeface="Inter Bold"/>
              </a:rPr>
              <a:t>TOLERANSI KOPI SALES PERFORMANCE DASHBOARD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040807"/>
            <a:ext cx="6531756" cy="495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3B82F6"/>
                </a:solidFill>
                <a:latin typeface="Inter Bold"/>
                <a:ea typeface="Inter Bold"/>
                <a:cs typeface="Inter Bold"/>
                <a:sym typeface="Inter Bold"/>
              </a:rPr>
              <a:t>ANALISIS PENJUALAN APRIL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845550"/>
            <a:ext cx="615722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MUHAMMADZENO LIDOVIANSA PUTRA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41659" y="1028700"/>
            <a:ext cx="848360" cy="848360"/>
          </a:xfrm>
          <a:custGeom>
            <a:avLst/>
            <a:gdLst/>
            <a:ahLst/>
            <a:cxnLst/>
            <a:rect r="r" b="b" t="t" l="l"/>
            <a:pathLst>
              <a:path h="848360" w="848360">
                <a:moveTo>
                  <a:pt x="0" y="0"/>
                </a:moveTo>
                <a:lnTo>
                  <a:pt x="848360" y="0"/>
                </a:lnTo>
                <a:lnTo>
                  <a:pt x="848360" y="848360"/>
                </a:lnTo>
                <a:lnTo>
                  <a:pt x="0" y="8483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641659" y="2887428"/>
            <a:ext cx="1156345" cy="1200936"/>
          </a:xfrm>
          <a:custGeom>
            <a:avLst/>
            <a:gdLst/>
            <a:ahLst/>
            <a:cxnLst/>
            <a:rect r="r" b="b" t="t" l="l"/>
            <a:pathLst>
              <a:path h="1200936" w="1156345">
                <a:moveTo>
                  <a:pt x="0" y="0"/>
                </a:moveTo>
                <a:lnTo>
                  <a:pt x="1156345" y="0"/>
                </a:lnTo>
                <a:lnTo>
                  <a:pt x="1156345" y="1200936"/>
                </a:lnTo>
                <a:lnTo>
                  <a:pt x="0" y="12009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42802" t="0" r="-4265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010531" y="2887428"/>
            <a:ext cx="1236058" cy="1250950"/>
          </a:xfrm>
          <a:custGeom>
            <a:avLst/>
            <a:gdLst/>
            <a:ahLst/>
            <a:cxnLst/>
            <a:rect r="r" b="b" t="t" l="l"/>
            <a:pathLst>
              <a:path h="1250950" w="1236058">
                <a:moveTo>
                  <a:pt x="0" y="0"/>
                </a:moveTo>
                <a:lnTo>
                  <a:pt x="1236058" y="0"/>
                </a:lnTo>
                <a:lnTo>
                  <a:pt x="1236058" y="1250950"/>
                </a:lnTo>
                <a:lnTo>
                  <a:pt x="0" y="12509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6963" t="-27100" r="-27529" b="-25553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56139" y="2887428"/>
            <a:ext cx="1227703" cy="1250950"/>
          </a:xfrm>
          <a:custGeom>
            <a:avLst/>
            <a:gdLst/>
            <a:ahLst/>
            <a:cxnLst/>
            <a:rect r="r" b="b" t="t" l="l"/>
            <a:pathLst>
              <a:path h="1250950" w="1227703">
                <a:moveTo>
                  <a:pt x="0" y="0"/>
                </a:moveTo>
                <a:lnTo>
                  <a:pt x="1227703" y="0"/>
                </a:lnTo>
                <a:lnTo>
                  <a:pt x="1227703" y="1250950"/>
                </a:lnTo>
                <a:lnTo>
                  <a:pt x="0" y="12509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8856" t="-10207" r="-9323" b="-730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718047" y="6299200"/>
            <a:ext cx="6378980" cy="2647712"/>
          </a:xfrm>
          <a:custGeom>
            <a:avLst/>
            <a:gdLst/>
            <a:ahLst/>
            <a:cxnLst/>
            <a:rect r="r" b="b" t="t" l="l"/>
            <a:pathLst>
              <a:path h="2647712" w="6378980">
                <a:moveTo>
                  <a:pt x="0" y="0"/>
                </a:moveTo>
                <a:lnTo>
                  <a:pt x="6378980" y="0"/>
                </a:lnTo>
                <a:lnTo>
                  <a:pt x="6378980" y="2647712"/>
                </a:lnTo>
                <a:lnTo>
                  <a:pt x="0" y="264771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-25303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923925"/>
            <a:ext cx="9415098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1F4FD8"/>
                </a:solidFill>
                <a:latin typeface="Inter Bold"/>
                <a:ea typeface="Inter Bold"/>
                <a:cs typeface="Inter Bold"/>
                <a:sym typeface="Inter Bold"/>
              </a:rPr>
              <a:t>LATAR BELAKANG PROYEK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2096853"/>
            <a:ext cx="65317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Deskripsi Proyek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2849328"/>
            <a:ext cx="7241685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Dashboard ini dibuat untuk menganalisis performa penjualan Toleransi Kopi selama periode April 2026 menggunakan Power BI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857750"/>
            <a:ext cx="65317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Tujuan Analisis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5610225"/>
            <a:ext cx="7241685" cy="260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Menganalisis performa penjualan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Mengetahui produk terlaris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Mengidentifikasi jam penjualan tertinggi 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Memahami perilaku transaksi pelanggan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Memberikan insight untuk mendukung keputusan bisnis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641659" y="2096853"/>
            <a:ext cx="65317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Tools yang digunakan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41659" y="4857750"/>
            <a:ext cx="65317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Dataset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718047" y="5610225"/>
            <a:ext cx="7241685" cy="41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transaksi penjualan April 2026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2232805"/>
            <a:ext cx="13475292" cy="1321280"/>
          </a:xfrm>
          <a:custGeom>
            <a:avLst/>
            <a:gdLst/>
            <a:ahLst/>
            <a:cxnLst/>
            <a:rect r="r" b="b" t="t" l="l"/>
            <a:pathLst>
              <a:path h="1321280" w="13475292">
                <a:moveTo>
                  <a:pt x="0" y="0"/>
                </a:moveTo>
                <a:lnTo>
                  <a:pt x="13475292" y="0"/>
                </a:lnTo>
                <a:lnTo>
                  <a:pt x="13475292" y="1321280"/>
                </a:lnTo>
                <a:lnTo>
                  <a:pt x="0" y="13212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276" t="0" r="-30989" b="-11705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8270385" y="4243626"/>
            <a:ext cx="8988915" cy="5573262"/>
          </a:xfrm>
          <a:custGeom>
            <a:avLst/>
            <a:gdLst/>
            <a:ahLst/>
            <a:cxnLst/>
            <a:rect r="r" b="b" t="t" l="l"/>
            <a:pathLst>
              <a:path h="5573262" w="8988915">
                <a:moveTo>
                  <a:pt x="0" y="0"/>
                </a:moveTo>
                <a:lnTo>
                  <a:pt x="8988915" y="0"/>
                </a:lnTo>
                <a:lnTo>
                  <a:pt x="8988915" y="5573262"/>
                </a:lnTo>
                <a:lnTo>
                  <a:pt x="0" y="557326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23925"/>
            <a:ext cx="13393959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1F4FD8"/>
                </a:solidFill>
                <a:latin typeface="Inter Bold"/>
                <a:ea typeface="Inter Bold"/>
                <a:cs typeface="Inter Bold"/>
                <a:sym typeface="Inter Bold"/>
              </a:rPr>
              <a:t>KEY PERFORMANCE INDICATOR (KPI)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877935"/>
            <a:ext cx="65317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Insight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735185"/>
            <a:ext cx="7241685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Toleransi Kopi menghasilkan revenue lebih dari Rp 141.000.000 dengan lebih dari 6.000 transaksi selama April 2026. Rata - rata pelanggan melakukan transaksi dengan nilai sekitar Rp 40.000 per order.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95707" y="2149353"/>
            <a:ext cx="14096587" cy="3524147"/>
          </a:xfrm>
          <a:custGeom>
            <a:avLst/>
            <a:gdLst/>
            <a:ahLst/>
            <a:cxnLst/>
            <a:rect r="r" b="b" t="t" l="l"/>
            <a:pathLst>
              <a:path h="3524147" w="14096587">
                <a:moveTo>
                  <a:pt x="0" y="0"/>
                </a:moveTo>
                <a:lnTo>
                  <a:pt x="14096586" y="0"/>
                </a:lnTo>
                <a:lnTo>
                  <a:pt x="14096586" y="3524146"/>
                </a:lnTo>
                <a:lnTo>
                  <a:pt x="0" y="3524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984685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3B82F6"/>
                </a:solidFill>
                <a:latin typeface="Inter Bold"/>
                <a:ea typeface="Inter Bold"/>
                <a:cs typeface="Inter Bold"/>
                <a:sym typeface="Inter Bold"/>
              </a:rPr>
              <a:t>ANALISIS TREND PENJUALAN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1941" y="5949724"/>
            <a:ext cx="65317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Insight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1941" y="6635524"/>
            <a:ext cx="9480373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Penjualan cenderung stabil sepanjang April 2026 dengan beberapa peningkatan signifikan pada periode tertentu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1941" y="7638824"/>
            <a:ext cx="65317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Implikasi bisnis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1941" y="8324624"/>
            <a:ext cx="10370108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Toleransi kopi memiliki performa penjualan yang cukup konsisten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Periode peak sales dapat dimanfaatkan untuk strategi promosi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Data trend membantu perencanaan stok dan operasional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285446" y="2156131"/>
            <a:ext cx="7897667" cy="4174789"/>
          </a:xfrm>
          <a:custGeom>
            <a:avLst/>
            <a:gdLst/>
            <a:ahLst/>
            <a:cxnLst/>
            <a:rect r="r" b="b" t="t" l="l"/>
            <a:pathLst>
              <a:path h="4174789" w="7897667">
                <a:moveTo>
                  <a:pt x="0" y="0"/>
                </a:moveTo>
                <a:lnTo>
                  <a:pt x="7897667" y="0"/>
                </a:lnTo>
                <a:lnTo>
                  <a:pt x="7897667" y="4174789"/>
                </a:lnTo>
                <a:lnTo>
                  <a:pt x="0" y="41747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9846856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3B82F6"/>
                </a:solidFill>
                <a:latin typeface="Inter Bold"/>
                <a:ea typeface="Inter Bold"/>
                <a:cs typeface="Inter Bold"/>
                <a:sym typeface="Inter Bold"/>
              </a:rPr>
              <a:t>ANALISIS JAM PENJUALAN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1941" y="5949724"/>
            <a:ext cx="65317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Insight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11941" y="6635524"/>
            <a:ext cx="9480373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Puncak penjualan terjadi pada pukul 19.00–21.00 yang menunjukkan tingginya aktivitas pelanggan pada malam hari.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11941" y="7638824"/>
            <a:ext cx="65317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Implikasi bisnis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1941" y="8324624"/>
            <a:ext cx="10370108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Menambah staff pada jam sibuk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Mengoptimalkan pelayanan malam hari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Menjalankan promo pada jam sepi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95801" y="2183647"/>
            <a:ext cx="7982385" cy="3952816"/>
          </a:xfrm>
          <a:custGeom>
            <a:avLst/>
            <a:gdLst/>
            <a:ahLst/>
            <a:cxnLst/>
            <a:rect r="r" b="b" t="t" l="l"/>
            <a:pathLst>
              <a:path h="3952816" w="7982385">
                <a:moveTo>
                  <a:pt x="0" y="0"/>
                </a:moveTo>
                <a:lnTo>
                  <a:pt x="7982385" y="0"/>
                </a:lnTo>
                <a:lnTo>
                  <a:pt x="7982385" y="3952815"/>
                </a:lnTo>
                <a:lnTo>
                  <a:pt x="0" y="39528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293060" y="2183647"/>
            <a:ext cx="7966240" cy="3944261"/>
          </a:xfrm>
          <a:custGeom>
            <a:avLst/>
            <a:gdLst/>
            <a:ahLst/>
            <a:cxnLst/>
            <a:rect r="r" b="b" t="t" l="l"/>
            <a:pathLst>
              <a:path h="3944261" w="7966240">
                <a:moveTo>
                  <a:pt x="0" y="0"/>
                </a:moveTo>
                <a:lnTo>
                  <a:pt x="7966240" y="0"/>
                </a:lnTo>
                <a:lnTo>
                  <a:pt x="7966240" y="3944260"/>
                </a:lnTo>
                <a:lnTo>
                  <a:pt x="0" y="39442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33450"/>
            <a:ext cx="1042087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3B82F6"/>
                </a:solidFill>
                <a:latin typeface="Inter Bold"/>
                <a:ea typeface="Inter Bold"/>
                <a:cs typeface="Inter Bold"/>
                <a:sym typeface="Inter Bold"/>
              </a:rPr>
              <a:t>ANALISIS PRODUK &amp; KATEGORI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5801" y="6845300"/>
            <a:ext cx="65317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Insight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5801" y="7531100"/>
            <a:ext cx="7445524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Ketegori Coffee Based memberikan kontribusi revenue tertinggi selama April 2026. Americano dan Butterscoth Latte menjadi produk dengan jumlah penjualan tertinggi.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86333" y="6845300"/>
            <a:ext cx="65317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Implikasi Bisnis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6333" y="7531100"/>
            <a:ext cx="8076949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Produk coffee based menjadi core business utama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Produk terlaris dapat diprioritaskan dalam promosi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Strategi bundling dapat meningkatkan Average Order Value (AOV)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71831" y="2116134"/>
            <a:ext cx="7144338" cy="4490727"/>
          </a:xfrm>
          <a:custGeom>
            <a:avLst/>
            <a:gdLst/>
            <a:ahLst/>
            <a:cxnLst/>
            <a:rect r="r" b="b" t="t" l="l"/>
            <a:pathLst>
              <a:path h="4490727" w="7144338">
                <a:moveTo>
                  <a:pt x="0" y="0"/>
                </a:moveTo>
                <a:lnTo>
                  <a:pt x="7144338" y="0"/>
                </a:lnTo>
                <a:lnTo>
                  <a:pt x="7144338" y="4490727"/>
                </a:lnTo>
                <a:lnTo>
                  <a:pt x="0" y="44907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11023602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3B82F6"/>
                </a:solidFill>
                <a:latin typeface="Inter Bold"/>
                <a:ea typeface="Inter Bold"/>
                <a:cs typeface="Inter Bold"/>
                <a:sym typeface="Inter Bold"/>
              </a:rPr>
              <a:t>ANALISIS METODE PEMBAYARAN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95801" y="6845300"/>
            <a:ext cx="65317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Insight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5801" y="7531100"/>
            <a:ext cx="7445524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QRIS menjadi metode pembayaran yang paling dominan digunakan pelanggan selama April 2026.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Hal ini menunjukkan bahwa pelanggan mulai terbiasa menggunakan sistem pembayaran cashless.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86333" y="6845300"/>
            <a:ext cx="65317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Implikasi Bisnis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86333" y="7531100"/>
            <a:ext cx="7445524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Cashless payment semakin diminati pelanggan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Promo digital payment berpotensi meningkatkan transaksi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Sistem pembayaran digital membantu efisiensi transaksi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181100" y="1047750"/>
            <a:ext cx="7534275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1F4FD8"/>
                </a:solidFill>
                <a:latin typeface="Inter Bold"/>
                <a:ea typeface="Inter Bold"/>
                <a:cs typeface="Inter Bold"/>
                <a:sym typeface="Inter Bold"/>
              </a:rPr>
              <a:t>KEY INSIGHT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611480" y="2499860"/>
            <a:ext cx="13647820" cy="977151"/>
            <a:chOff x="0" y="0"/>
            <a:chExt cx="3594488" cy="25735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94488" cy="257357"/>
            </a:xfrm>
            <a:custGeom>
              <a:avLst/>
              <a:gdLst/>
              <a:ahLst/>
              <a:cxnLst/>
              <a:rect r="r" b="b" t="t" l="l"/>
              <a:pathLst>
                <a:path h="257357" w="3594488">
                  <a:moveTo>
                    <a:pt x="28930" y="0"/>
                  </a:moveTo>
                  <a:lnTo>
                    <a:pt x="3565557" y="0"/>
                  </a:lnTo>
                  <a:cubicBezTo>
                    <a:pt x="3573230" y="0"/>
                    <a:pt x="3580588" y="3048"/>
                    <a:pt x="3586014" y="8474"/>
                  </a:cubicBezTo>
                  <a:cubicBezTo>
                    <a:pt x="3591440" y="13899"/>
                    <a:pt x="3594488" y="21258"/>
                    <a:pt x="3594488" y="28930"/>
                  </a:cubicBezTo>
                  <a:lnTo>
                    <a:pt x="3594488" y="228426"/>
                  </a:lnTo>
                  <a:cubicBezTo>
                    <a:pt x="3594488" y="244404"/>
                    <a:pt x="3581535" y="257357"/>
                    <a:pt x="3565557" y="257357"/>
                  </a:cubicBezTo>
                  <a:lnTo>
                    <a:pt x="28930" y="257357"/>
                  </a:lnTo>
                  <a:cubicBezTo>
                    <a:pt x="12953" y="257357"/>
                    <a:pt x="0" y="244404"/>
                    <a:pt x="0" y="228426"/>
                  </a:cubicBezTo>
                  <a:lnTo>
                    <a:pt x="0" y="28930"/>
                  </a:lnTo>
                  <a:cubicBezTo>
                    <a:pt x="0" y="12953"/>
                    <a:pt x="12953" y="0"/>
                    <a:pt x="28930" y="0"/>
                  </a:cubicBezTo>
                  <a:close/>
                </a:path>
              </a:pathLst>
            </a:custGeom>
            <a:solidFill>
              <a:srgbClr val="1F4FD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94488" cy="295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611480" y="3724661"/>
            <a:ext cx="13647820" cy="977151"/>
            <a:chOff x="0" y="0"/>
            <a:chExt cx="3594488" cy="2573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94488" cy="257357"/>
            </a:xfrm>
            <a:custGeom>
              <a:avLst/>
              <a:gdLst/>
              <a:ahLst/>
              <a:cxnLst/>
              <a:rect r="r" b="b" t="t" l="l"/>
              <a:pathLst>
                <a:path h="257357" w="3594488">
                  <a:moveTo>
                    <a:pt x="28930" y="0"/>
                  </a:moveTo>
                  <a:lnTo>
                    <a:pt x="3565557" y="0"/>
                  </a:lnTo>
                  <a:cubicBezTo>
                    <a:pt x="3573230" y="0"/>
                    <a:pt x="3580588" y="3048"/>
                    <a:pt x="3586014" y="8474"/>
                  </a:cubicBezTo>
                  <a:cubicBezTo>
                    <a:pt x="3591440" y="13899"/>
                    <a:pt x="3594488" y="21258"/>
                    <a:pt x="3594488" y="28930"/>
                  </a:cubicBezTo>
                  <a:lnTo>
                    <a:pt x="3594488" y="228426"/>
                  </a:lnTo>
                  <a:cubicBezTo>
                    <a:pt x="3594488" y="244404"/>
                    <a:pt x="3581535" y="257357"/>
                    <a:pt x="3565557" y="257357"/>
                  </a:cubicBezTo>
                  <a:lnTo>
                    <a:pt x="28930" y="257357"/>
                  </a:lnTo>
                  <a:cubicBezTo>
                    <a:pt x="12953" y="257357"/>
                    <a:pt x="0" y="244404"/>
                    <a:pt x="0" y="228426"/>
                  </a:cubicBezTo>
                  <a:lnTo>
                    <a:pt x="0" y="28930"/>
                  </a:lnTo>
                  <a:cubicBezTo>
                    <a:pt x="0" y="12953"/>
                    <a:pt x="12953" y="0"/>
                    <a:pt x="28930" y="0"/>
                  </a:cubicBezTo>
                  <a:close/>
                </a:path>
              </a:pathLst>
            </a:custGeom>
            <a:solidFill>
              <a:srgbClr val="1F4FD8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3594488" cy="295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611480" y="7822722"/>
            <a:ext cx="13647820" cy="1435578"/>
            <a:chOff x="0" y="0"/>
            <a:chExt cx="3594488" cy="37809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594488" cy="378095"/>
            </a:xfrm>
            <a:custGeom>
              <a:avLst/>
              <a:gdLst/>
              <a:ahLst/>
              <a:cxnLst/>
              <a:rect r="r" b="b" t="t" l="l"/>
              <a:pathLst>
                <a:path h="378095" w="3594488">
                  <a:moveTo>
                    <a:pt x="28930" y="0"/>
                  </a:moveTo>
                  <a:lnTo>
                    <a:pt x="3565557" y="0"/>
                  </a:lnTo>
                  <a:cubicBezTo>
                    <a:pt x="3573230" y="0"/>
                    <a:pt x="3580588" y="3048"/>
                    <a:pt x="3586014" y="8474"/>
                  </a:cubicBezTo>
                  <a:cubicBezTo>
                    <a:pt x="3591440" y="13899"/>
                    <a:pt x="3594488" y="21258"/>
                    <a:pt x="3594488" y="28930"/>
                  </a:cubicBezTo>
                  <a:lnTo>
                    <a:pt x="3594488" y="349164"/>
                  </a:lnTo>
                  <a:cubicBezTo>
                    <a:pt x="3594488" y="365142"/>
                    <a:pt x="3581535" y="378095"/>
                    <a:pt x="3565557" y="378095"/>
                  </a:cubicBezTo>
                  <a:lnTo>
                    <a:pt x="28930" y="378095"/>
                  </a:lnTo>
                  <a:cubicBezTo>
                    <a:pt x="12953" y="378095"/>
                    <a:pt x="0" y="365142"/>
                    <a:pt x="0" y="349164"/>
                  </a:cubicBezTo>
                  <a:lnTo>
                    <a:pt x="0" y="28930"/>
                  </a:lnTo>
                  <a:cubicBezTo>
                    <a:pt x="0" y="12953"/>
                    <a:pt x="12953" y="0"/>
                    <a:pt x="28930" y="0"/>
                  </a:cubicBezTo>
                  <a:close/>
                </a:path>
              </a:pathLst>
            </a:custGeom>
            <a:solidFill>
              <a:srgbClr val="1F4FD8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3594488" cy="41619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611480" y="4949462"/>
            <a:ext cx="13647820" cy="977151"/>
            <a:chOff x="0" y="0"/>
            <a:chExt cx="3594488" cy="25735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94488" cy="257357"/>
            </a:xfrm>
            <a:custGeom>
              <a:avLst/>
              <a:gdLst/>
              <a:ahLst/>
              <a:cxnLst/>
              <a:rect r="r" b="b" t="t" l="l"/>
              <a:pathLst>
                <a:path h="257357" w="3594488">
                  <a:moveTo>
                    <a:pt x="28930" y="0"/>
                  </a:moveTo>
                  <a:lnTo>
                    <a:pt x="3565557" y="0"/>
                  </a:lnTo>
                  <a:cubicBezTo>
                    <a:pt x="3573230" y="0"/>
                    <a:pt x="3580588" y="3048"/>
                    <a:pt x="3586014" y="8474"/>
                  </a:cubicBezTo>
                  <a:cubicBezTo>
                    <a:pt x="3591440" y="13899"/>
                    <a:pt x="3594488" y="21258"/>
                    <a:pt x="3594488" y="28930"/>
                  </a:cubicBezTo>
                  <a:lnTo>
                    <a:pt x="3594488" y="228426"/>
                  </a:lnTo>
                  <a:cubicBezTo>
                    <a:pt x="3594488" y="244404"/>
                    <a:pt x="3581535" y="257357"/>
                    <a:pt x="3565557" y="257357"/>
                  </a:cubicBezTo>
                  <a:lnTo>
                    <a:pt x="28930" y="257357"/>
                  </a:lnTo>
                  <a:cubicBezTo>
                    <a:pt x="12953" y="257357"/>
                    <a:pt x="0" y="244404"/>
                    <a:pt x="0" y="228426"/>
                  </a:cubicBezTo>
                  <a:lnTo>
                    <a:pt x="0" y="28930"/>
                  </a:lnTo>
                  <a:cubicBezTo>
                    <a:pt x="0" y="12953"/>
                    <a:pt x="12953" y="0"/>
                    <a:pt x="28930" y="0"/>
                  </a:cubicBezTo>
                  <a:close/>
                </a:path>
              </a:pathLst>
            </a:custGeom>
            <a:solidFill>
              <a:srgbClr val="1F4FD8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3594488" cy="2954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3611480" y="6174262"/>
            <a:ext cx="13647820" cy="1378966"/>
            <a:chOff x="0" y="0"/>
            <a:chExt cx="3594488" cy="36318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94488" cy="363185"/>
            </a:xfrm>
            <a:custGeom>
              <a:avLst/>
              <a:gdLst/>
              <a:ahLst/>
              <a:cxnLst/>
              <a:rect r="r" b="b" t="t" l="l"/>
              <a:pathLst>
                <a:path h="363185" w="3594488">
                  <a:moveTo>
                    <a:pt x="28930" y="0"/>
                  </a:moveTo>
                  <a:lnTo>
                    <a:pt x="3565557" y="0"/>
                  </a:lnTo>
                  <a:cubicBezTo>
                    <a:pt x="3573230" y="0"/>
                    <a:pt x="3580588" y="3048"/>
                    <a:pt x="3586014" y="8474"/>
                  </a:cubicBezTo>
                  <a:cubicBezTo>
                    <a:pt x="3591440" y="13899"/>
                    <a:pt x="3594488" y="21258"/>
                    <a:pt x="3594488" y="28930"/>
                  </a:cubicBezTo>
                  <a:lnTo>
                    <a:pt x="3594488" y="334254"/>
                  </a:lnTo>
                  <a:cubicBezTo>
                    <a:pt x="3594488" y="350232"/>
                    <a:pt x="3581535" y="363185"/>
                    <a:pt x="3565557" y="363185"/>
                  </a:cubicBezTo>
                  <a:lnTo>
                    <a:pt x="28930" y="363185"/>
                  </a:lnTo>
                  <a:cubicBezTo>
                    <a:pt x="12953" y="363185"/>
                    <a:pt x="0" y="350232"/>
                    <a:pt x="0" y="334254"/>
                  </a:cubicBezTo>
                  <a:lnTo>
                    <a:pt x="0" y="28930"/>
                  </a:lnTo>
                  <a:cubicBezTo>
                    <a:pt x="0" y="12953"/>
                    <a:pt x="12953" y="0"/>
                    <a:pt x="28930" y="0"/>
                  </a:cubicBezTo>
                  <a:close/>
                </a:path>
              </a:pathLst>
            </a:custGeom>
            <a:solidFill>
              <a:srgbClr val="1F4FD8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3594488" cy="4012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1100" y="2590974"/>
            <a:ext cx="1826863" cy="794924"/>
            <a:chOff x="0" y="0"/>
            <a:chExt cx="1867946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867946" cy="812800"/>
            </a:xfrm>
            <a:custGeom>
              <a:avLst/>
              <a:gdLst/>
              <a:ahLst/>
              <a:cxnLst/>
              <a:rect r="r" b="b" t="t" l="l"/>
              <a:pathLst>
                <a:path h="812800" w="1867946">
                  <a:moveTo>
                    <a:pt x="933973" y="0"/>
                  </a:moveTo>
                  <a:cubicBezTo>
                    <a:pt x="418154" y="0"/>
                    <a:pt x="0" y="181951"/>
                    <a:pt x="0" y="406400"/>
                  </a:cubicBezTo>
                  <a:cubicBezTo>
                    <a:pt x="0" y="630849"/>
                    <a:pt x="418154" y="812800"/>
                    <a:pt x="933973" y="812800"/>
                  </a:cubicBezTo>
                  <a:cubicBezTo>
                    <a:pt x="1449792" y="812800"/>
                    <a:pt x="1867946" y="630849"/>
                    <a:pt x="1867946" y="406400"/>
                  </a:cubicBezTo>
                  <a:cubicBezTo>
                    <a:pt x="1867946" y="181951"/>
                    <a:pt x="1449792" y="0"/>
                    <a:pt x="933973" y="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175120" y="38100"/>
              <a:ext cx="151770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81100" y="3815774"/>
            <a:ext cx="1826863" cy="794924"/>
            <a:chOff x="0" y="0"/>
            <a:chExt cx="1867946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867946" cy="812800"/>
            </a:xfrm>
            <a:custGeom>
              <a:avLst/>
              <a:gdLst/>
              <a:ahLst/>
              <a:cxnLst/>
              <a:rect r="r" b="b" t="t" l="l"/>
              <a:pathLst>
                <a:path h="812800" w="1867946">
                  <a:moveTo>
                    <a:pt x="933973" y="0"/>
                  </a:moveTo>
                  <a:cubicBezTo>
                    <a:pt x="418154" y="0"/>
                    <a:pt x="0" y="181951"/>
                    <a:pt x="0" y="406400"/>
                  </a:cubicBezTo>
                  <a:cubicBezTo>
                    <a:pt x="0" y="630849"/>
                    <a:pt x="418154" y="812800"/>
                    <a:pt x="933973" y="812800"/>
                  </a:cubicBezTo>
                  <a:cubicBezTo>
                    <a:pt x="1449792" y="812800"/>
                    <a:pt x="1867946" y="630849"/>
                    <a:pt x="1867946" y="406400"/>
                  </a:cubicBezTo>
                  <a:cubicBezTo>
                    <a:pt x="1867946" y="181951"/>
                    <a:pt x="1449792" y="0"/>
                    <a:pt x="933973" y="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75120" y="38100"/>
              <a:ext cx="151770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81100" y="5047333"/>
            <a:ext cx="1826863" cy="794924"/>
            <a:chOff x="0" y="0"/>
            <a:chExt cx="1867946" cy="8128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867946" cy="812800"/>
            </a:xfrm>
            <a:custGeom>
              <a:avLst/>
              <a:gdLst/>
              <a:ahLst/>
              <a:cxnLst/>
              <a:rect r="r" b="b" t="t" l="l"/>
              <a:pathLst>
                <a:path h="812800" w="1867946">
                  <a:moveTo>
                    <a:pt x="933973" y="0"/>
                  </a:moveTo>
                  <a:cubicBezTo>
                    <a:pt x="418154" y="0"/>
                    <a:pt x="0" y="181951"/>
                    <a:pt x="0" y="406400"/>
                  </a:cubicBezTo>
                  <a:cubicBezTo>
                    <a:pt x="0" y="630849"/>
                    <a:pt x="418154" y="812800"/>
                    <a:pt x="933973" y="812800"/>
                  </a:cubicBezTo>
                  <a:cubicBezTo>
                    <a:pt x="1449792" y="812800"/>
                    <a:pt x="1867946" y="630849"/>
                    <a:pt x="1867946" y="406400"/>
                  </a:cubicBezTo>
                  <a:cubicBezTo>
                    <a:pt x="1867946" y="181951"/>
                    <a:pt x="1449792" y="0"/>
                    <a:pt x="933973" y="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175120" y="38100"/>
              <a:ext cx="151770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181100" y="6470906"/>
            <a:ext cx="1826863" cy="794924"/>
            <a:chOff x="0" y="0"/>
            <a:chExt cx="1867946" cy="812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867946" cy="812800"/>
            </a:xfrm>
            <a:custGeom>
              <a:avLst/>
              <a:gdLst/>
              <a:ahLst/>
              <a:cxnLst/>
              <a:rect r="r" b="b" t="t" l="l"/>
              <a:pathLst>
                <a:path h="812800" w="1867946">
                  <a:moveTo>
                    <a:pt x="933973" y="0"/>
                  </a:moveTo>
                  <a:cubicBezTo>
                    <a:pt x="418154" y="0"/>
                    <a:pt x="0" y="181951"/>
                    <a:pt x="0" y="406400"/>
                  </a:cubicBezTo>
                  <a:cubicBezTo>
                    <a:pt x="0" y="630849"/>
                    <a:pt x="418154" y="812800"/>
                    <a:pt x="933973" y="812800"/>
                  </a:cubicBezTo>
                  <a:cubicBezTo>
                    <a:pt x="1449792" y="812800"/>
                    <a:pt x="1867946" y="630849"/>
                    <a:pt x="1867946" y="406400"/>
                  </a:cubicBezTo>
                  <a:cubicBezTo>
                    <a:pt x="1867946" y="181951"/>
                    <a:pt x="1449792" y="0"/>
                    <a:pt x="933973" y="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175120" y="38100"/>
              <a:ext cx="151770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81100" y="8143049"/>
            <a:ext cx="1826863" cy="794924"/>
            <a:chOff x="0" y="0"/>
            <a:chExt cx="1867946" cy="812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867946" cy="812800"/>
            </a:xfrm>
            <a:custGeom>
              <a:avLst/>
              <a:gdLst/>
              <a:ahLst/>
              <a:cxnLst/>
              <a:rect r="r" b="b" t="t" l="l"/>
              <a:pathLst>
                <a:path h="812800" w="1867946">
                  <a:moveTo>
                    <a:pt x="933973" y="0"/>
                  </a:moveTo>
                  <a:cubicBezTo>
                    <a:pt x="418154" y="0"/>
                    <a:pt x="0" y="181951"/>
                    <a:pt x="0" y="406400"/>
                  </a:cubicBezTo>
                  <a:cubicBezTo>
                    <a:pt x="0" y="630849"/>
                    <a:pt x="418154" y="812800"/>
                    <a:pt x="933973" y="812800"/>
                  </a:cubicBezTo>
                  <a:cubicBezTo>
                    <a:pt x="1449792" y="812800"/>
                    <a:pt x="1867946" y="630849"/>
                    <a:pt x="1867946" y="406400"/>
                  </a:cubicBezTo>
                  <a:cubicBezTo>
                    <a:pt x="1867946" y="181951"/>
                    <a:pt x="1449792" y="0"/>
                    <a:pt x="933973" y="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175120" y="38100"/>
              <a:ext cx="1517706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4590157" y="2712177"/>
            <a:ext cx="12340399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Coffee Based menjadi kategori dengan revenu</a:t>
            </a: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 ter</a:t>
            </a: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tinggi selama April 2026.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4590157" y="3939745"/>
            <a:ext cx="12340399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Americano dan Butt</a:t>
            </a: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erscotch Latte menjadi produk paling lar</a:t>
            </a: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590157" y="8035039"/>
            <a:ext cx="12340399" cy="1353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Mayoritas pelanggan melakukan transaksi dengan jumlah item yang r</a:t>
            </a: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elatif sedikit sehingga terdapat peluang untuk stra</a:t>
            </a: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tegi bundling.</a:t>
            </a:r>
          </a:p>
          <a:p>
            <a:pPr algn="l">
              <a:lnSpc>
                <a:spcPts val="3640"/>
              </a:lnSpc>
              <a:spcBef>
                <a:spcPct val="0"/>
              </a:spcBef>
            </a:pPr>
          </a:p>
        </p:txBody>
      </p:sp>
      <p:sp>
        <p:nvSpPr>
          <p:cNvPr name="TextBox 36" id="36"/>
          <p:cNvSpPr txBox="true"/>
          <p:nvPr/>
        </p:nvSpPr>
        <p:spPr>
          <a:xfrm rot="0">
            <a:off x="4590157" y="5168537"/>
            <a:ext cx="9421258" cy="438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Peak sales te</a:t>
            </a: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rjad</a:t>
            </a: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 pada pukul 19.00–21.00.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4590157" y="6393337"/>
            <a:ext cx="12340399" cy="89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QRIS menjadi metode pembayaran yang pal</a:t>
            </a:r>
            <a:r>
              <a:rPr lang="en-US" b="true" sz="26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ing dominan digunakan pelanggan.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29746" y="2610644"/>
            <a:ext cx="152957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F3F6FB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29746" y="3835444"/>
            <a:ext cx="152957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F3F6FB"/>
                </a:solidFill>
                <a:latin typeface="Inter Bold"/>
                <a:ea typeface="Inter Bold"/>
                <a:cs typeface="Inter Bold"/>
                <a:sym typeface="Inter Bold"/>
              </a:rPr>
              <a:t>2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29746" y="5067003"/>
            <a:ext cx="152957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F3F6FB"/>
                </a:solidFill>
                <a:latin typeface="Inter Bold"/>
                <a:ea typeface="Inter Bold"/>
                <a:cs typeface="Inter Bold"/>
                <a:sym typeface="Inter Bold"/>
              </a:rPr>
              <a:t>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29746" y="6490576"/>
            <a:ext cx="152957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F3F6FB"/>
                </a:solidFill>
                <a:latin typeface="Inter Bold"/>
                <a:ea typeface="Inter Bold"/>
                <a:cs typeface="Inter Bold"/>
                <a:sym typeface="Inter Bold"/>
              </a:rPr>
              <a:t>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29746" y="8162719"/>
            <a:ext cx="1529571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b="true" sz="3999">
                <a:solidFill>
                  <a:srgbClr val="F3F6FB"/>
                </a:solidFill>
                <a:latin typeface="Inter Bold"/>
                <a:ea typeface="Inter Bold"/>
                <a:cs typeface="Inter Bold"/>
                <a:sym typeface="Inter Bold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3181519"/>
            <a:ext cx="5100010" cy="5325868"/>
            <a:chOff x="0" y="0"/>
            <a:chExt cx="960418" cy="10029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0418" cy="1002951"/>
            </a:xfrm>
            <a:custGeom>
              <a:avLst/>
              <a:gdLst/>
              <a:ahLst/>
              <a:cxnLst/>
              <a:rect r="r" b="b" t="t" l="l"/>
              <a:pathLst>
                <a:path h="1002951" w="960418">
                  <a:moveTo>
                    <a:pt x="77419" y="0"/>
                  </a:moveTo>
                  <a:lnTo>
                    <a:pt x="882999" y="0"/>
                  </a:lnTo>
                  <a:cubicBezTo>
                    <a:pt x="925757" y="0"/>
                    <a:pt x="960418" y="34662"/>
                    <a:pt x="960418" y="77419"/>
                  </a:cubicBezTo>
                  <a:lnTo>
                    <a:pt x="960418" y="925532"/>
                  </a:lnTo>
                  <a:cubicBezTo>
                    <a:pt x="960418" y="946065"/>
                    <a:pt x="952262" y="965757"/>
                    <a:pt x="937743" y="980276"/>
                  </a:cubicBezTo>
                  <a:cubicBezTo>
                    <a:pt x="923224" y="994795"/>
                    <a:pt x="903532" y="1002951"/>
                    <a:pt x="882999" y="1002951"/>
                  </a:cubicBezTo>
                  <a:lnTo>
                    <a:pt x="77419" y="1002951"/>
                  </a:lnTo>
                  <a:cubicBezTo>
                    <a:pt x="34662" y="1002951"/>
                    <a:pt x="0" y="968290"/>
                    <a:pt x="0" y="925532"/>
                  </a:cubicBezTo>
                  <a:lnTo>
                    <a:pt x="0" y="77419"/>
                  </a:lnTo>
                  <a:cubicBezTo>
                    <a:pt x="0" y="34662"/>
                    <a:pt x="34662" y="0"/>
                    <a:pt x="77419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960418" cy="1041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5678123" y="9174427"/>
            <a:ext cx="3162354" cy="2225147"/>
          </a:xfrm>
          <a:custGeom>
            <a:avLst/>
            <a:gdLst/>
            <a:ahLst/>
            <a:cxnLst/>
            <a:rect r="r" b="b" t="t" l="l"/>
            <a:pathLst>
              <a:path h="2225147" w="3162354">
                <a:moveTo>
                  <a:pt x="0" y="0"/>
                </a:moveTo>
                <a:lnTo>
                  <a:pt x="3162354" y="0"/>
                </a:lnTo>
                <a:lnTo>
                  <a:pt x="3162354" y="2225146"/>
                </a:lnTo>
                <a:lnTo>
                  <a:pt x="0" y="2225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11422" y="365125"/>
            <a:ext cx="9665156" cy="1193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1F4FD8"/>
                </a:solidFill>
                <a:latin typeface="Inter Bold"/>
                <a:ea typeface="Inter Bold"/>
                <a:cs typeface="Inter Bold"/>
                <a:sym typeface="Inter Bold"/>
              </a:rPr>
              <a:t>REKOMENDASI BISNIS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9743" y="3567644"/>
            <a:ext cx="4347477" cy="4098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5340" indent="-312670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3F6FB"/>
                </a:solidFill>
                <a:latin typeface="Inter"/>
                <a:ea typeface="Inter"/>
                <a:cs typeface="Inter"/>
                <a:sym typeface="Inter"/>
              </a:rPr>
              <a:t>Fokus promosi pada produk terlaris</a:t>
            </a:r>
          </a:p>
          <a:p>
            <a:pPr algn="l" marL="625340" indent="-312670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3F6FB"/>
                </a:solidFill>
                <a:latin typeface="Inter"/>
                <a:ea typeface="Inter"/>
                <a:cs typeface="Inter"/>
                <a:sym typeface="Inter"/>
              </a:rPr>
              <a:t>Menjaga ketersediaan stok produk coffee based</a:t>
            </a:r>
          </a:p>
          <a:p>
            <a:pPr algn="l" marL="625340" indent="-312670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3F6FB"/>
                </a:solidFill>
                <a:latin typeface="Inter"/>
                <a:ea typeface="Inter"/>
                <a:cs typeface="Inter"/>
                <a:sym typeface="Inter"/>
              </a:rPr>
              <a:t>Membuat paket bundling minuman dan snack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89767" y="1808918"/>
            <a:ext cx="930836" cy="94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1"/>
              </a:lnSpc>
            </a:pPr>
            <a:r>
              <a:rPr lang="en-US" b="true" sz="5594">
                <a:solidFill>
                  <a:srgbClr val="F3F6FB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593995" y="3181519"/>
            <a:ext cx="5100010" cy="5325868"/>
            <a:chOff x="0" y="0"/>
            <a:chExt cx="960418" cy="100295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0418" cy="1002951"/>
            </a:xfrm>
            <a:custGeom>
              <a:avLst/>
              <a:gdLst/>
              <a:ahLst/>
              <a:cxnLst/>
              <a:rect r="r" b="b" t="t" l="l"/>
              <a:pathLst>
                <a:path h="1002951" w="960418">
                  <a:moveTo>
                    <a:pt x="77419" y="0"/>
                  </a:moveTo>
                  <a:lnTo>
                    <a:pt x="882999" y="0"/>
                  </a:lnTo>
                  <a:cubicBezTo>
                    <a:pt x="925757" y="0"/>
                    <a:pt x="960418" y="34662"/>
                    <a:pt x="960418" y="77419"/>
                  </a:cubicBezTo>
                  <a:lnTo>
                    <a:pt x="960418" y="925532"/>
                  </a:lnTo>
                  <a:cubicBezTo>
                    <a:pt x="960418" y="946065"/>
                    <a:pt x="952262" y="965757"/>
                    <a:pt x="937743" y="980276"/>
                  </a:cubicBezTo>
                  <a:cubicBezTo>
                    <a:pt x="923224" y="994795"/>
                    <a:pt x="903532" y="1002951"/>
                    <a:pt x="882999" y="1002951"/>
                  </a:cubicBezTo>
                  <a:lnTo>
                    <a:pt x="77419" y="1002951"/>
                  </a:lnTo>
                  <a:cubicBezTo>
                    <a:pt x="34662" y="1002951"/>
                    <a:pt x="0" y="968290"/>
                    <a:pt x="0" y="925532"/>
                  </a:cubicBezTo>
                  <a:lnTo>
                    <a:pt x="0" y="77419"/>
                  </a:lnTo>
                  <a:cubicBezTo>
                    <a:pt x="0" y="34662"/>
                    <a:pt x="34662" y="0"/>
                    <a:pt x="77419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960418" cy="1041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6946742" y="3567644"/>
            <a:ext cx="4347477" cy="461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5340" indent="-312670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3F6FB"/>
                </a:solidFill>
                <a:latin typeface="Inter"/>
                <a:ea typeface="Inter"/>
                <a:cs typeface="Inter"/>
                <a:sym typeface="Inter"/>
              </a:rPr>
              <a:t>Menambah staff pada jam sibuk</a:t>
            </a:r>
          </a:p>
          <a:p>
            <a:pPr algn="l" marL="625340" indent="-312670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3F6FB"/>
                </a:solidFill>
                <a:latin typeface="Inter"/>
                <a:ea typeface="Inter"/>
                <a:cs typeface="Inter"/>
                <a:sym typeface="Inter"/>
              </a:rPr>
              <a:t>Mengoptimalkan pelayanan pada malam hari</a:t>
            </a:r>
          </a:p>
          <a:p>
            <a:pPr algn="l" marL="625340" indent="-312670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3F6FB"/>
                </a:solidFill>
                <a:latin typeface="Inter"/>
                <a:ea typeface="Inter"/>
                <a:cs typeface="Inter"/>
                <a:sym typeface="Inter"/>
              </a:rPr>
              <a:t>Menyesuaikan operasional berdasarkan peak hour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2159290" y="3181519"/>
            <a:ext cx="5100010" cy="5325868"/>
            <a:chOff x="0" y="0"/>
            <a:chExt cx="960418" cy="10029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60418" cy="1002951"/>
            </a:xfrm>
            <a:custGeom>
              <a:avLst/>
              <a:gdLst/>
              <a:ahLst/>
              <a:cxnLst/>
              <a:rect r="r" b="b" t="t" l="l"/>
              <a:pathLst>
                <a:path h="1002951" w="960418">
                  <a:moveTo>
                    <a:pt x="77419" y="0"/>
                  </a:moveTo>
                  <a:lnTo>
                    <a:pt x="882999" y="0"/>
                  </a:lnTo>
                  <a:cubicBezTo>
                    <a:pt x="925757" y="0"/>
                    <a:pt x="960418" y="34662"/>
                    <a:pt x="960418" y="77419"/>
                  </a:cubicBezTo>
                  <a:lnTo>
                    <a:pt x="960418" y="925532"/>
                  </a:lnTo>
                  <a:cubicBezTo>
                    <a:pt x="960418" y="946065"/>
                    <a:pt x="952262" y="965757"/>
                    <a:pt x="937743" y="980276"/>
                  </a:cubicBezTo>
                  <a:cubicBezTo>
                    <a:pt x="923224" y="994795"/>
                    <a:pt x="903532" y="1002951"/>
                    <a:pt x="882999" y="1002951"/>
                  </a:cubicBezTo>
                  <a:lnTo>
                    <a:pt x="77419" y="1002951"/>
                  </a:lnTo>
                  <a:cubicBezTo>
                    <a:pt x="34662" y="1002951"/>
                    <a:pt x="0" y="968290"/>
                    <a:pt x="0" y="925532"/>
                  </a:cubicBezTo>
                  <a:lnTo>
                    <a:pt x="0" y="77419"/>
                  </a:lnTo>
                  <a:cubicBezTo>
                    <a:pt x="0" y="34662"/>
                    <a:pt x="34662" y="0"/>
                    <a:pt x="77419" y="0"/>
                  </a:cubicBez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960418" cy="1041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512037" y="3567644"/>
            <a:ext cx="4347477" cy="4612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5340" indent="-312670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3F6FB"/>
                </a:solidFill>
                <a:latin typeface="Inter"/>
                <a:ea typeface="Inter"/>
                <a:cs typeface="Inter"/>
                <a:sym typeface="Inter"/>
              </a:rPr>
              <a:t>Memanfaatkan promo QRIS atau cashless payment</a:t>
            </a:r>
          </a:p>
          <a:p>
            <a:pPr algn="l" marL="625340" indent="-312670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3F6FB"/>
                </a:solidFill>
                <a:latin typeface="Inter"/>
                <a:ea typeface="Inter"/>
                <a:cs typeface="Inter"/>
                <a:sym typeface="Inter"/>
              </a:rPr>
              <a:t>Meningkatkan promosi digital untuk produk favorit</a:t>
            </a:r>
          </a:p>
          <a:p>
            <a:pPr algn="l" marL="625340" indent="-312670" lvl="1">
              <a:lnSpc>
                <a:spcPts val="4055"/>
              </a:lnSpc>
              <a:buFont typeface="Arial"/>
              <a:buChar char="•"/>
            </a:pPr>
            <a:r>
              <a:rPr lang="en-US" sz="2896">
                <a:solidFill>
                  <a:srgbClr val="F3F6FB"/>
                </a:solidFill>
                <a:latin typeface="Inter"/>
                <a:ea typeface="Inter"/>
                <a:cs typeface="Inter"/>
                <a:sym typeface="Inter"/>
              </a:rPr>
              <a:t>Membuat campaign pada jam penjualan rendah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1779612"/>
            <a:ext cx="5100010" cy="1111756"/>
            <a:chOff x="0" y="0"/>
            <a:chExt cx="1343213" cy="2928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43213" cy="292808"/>
            </a:xfrm>
            <a:custGeom>
              <a:avLst/>
              <a:gdLst/>
              <a:ahLst/>
              <a:cxnLst/>
              <a:rect r="r" b="b" t="t" l="l"/>
              <a:pathLst>
                <a:path h="292808" w="1343213">
                  <a:moveTo>
                    <a:pt x="25806" y="0"/>
                  </a:moveTo>
                  <a:lnTo>
                    <a:pt x="1317406" y="0"/>
                  </a:lnTo>
                  <a:cubicBezTo>
                    <a:pt x="1331659" y="0"/>
                    <a:pt x="1343213" y="11554"/>
                    <a:pt x="1343213" y="25806"/>
                  </a:cubicBezTo>
                  <a:lnTo>
                    <a:pt x="1343213" y="267002"/>
                  </a:lnTo>
                  <a:cubicBezTo>
                    <a:pt x="1343213" y="281254"/>
                    <a:pt x="1331659" y="292808"/>
                    <a:pt x="1317406" y="292808"/>
                  </a:cubicBezTo>
                  <a:lnTo>
                    <a:pt x="25806" y="292808"/>
                  </a:lnTo>
                  <a:cubicBezTo>
                    <a:pt x="11554" y="292808"/>
                    <a:pt x="0" y="281254"/>
                    <a:pt x="0" y="267002"/>
                  </a:cubicBezTo>
                  <a:lnTo>
                    <a:pt x="0" y="25806"/>
                  </a:lnTo>
                  <a:cubicBezTo>
                    <a:pt x="0" y="11554"/>
                    <a:pt x="11554" y="0"/>
                    <a:pt x="25806" y="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343213" cy="349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sz="28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Strategi Produk</a:t>
              </a: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655062" y="1808918"/>
            <a:ext cx="930836" cy="94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1"/>
              </a:lnSpc>
            </a:pPr>
            <a:r>
              <a:rPr lang="en-US" b="true" sz="5594">
                <a:solidFill>
                  <a:srgbClr val="F3F6FB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593995" y="1779612"/>
            <a:ext cx="5100010" cy="1111756"/>
            <a:chOff x="0" y="0"/>
            <a:chExt cx="1343213" cy="29280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43213" cy="292808"/>
            </a:xfrm>
            <a:custGeom>
              <a:avLst/>
              <a:gdLst/>
              <a:ahLst/>
              <a:cxnLst/>
              <a:rect r="r" b="b" t="t" l="l"/>
              <a:pathLst>
                <a:path h="292808" w="1343213">
                  <a:moveTo>
                    <a:pt x="25806" y="0"/>
                  </a:moveTo>
                  <a:lnTo>
                    <a:pt x="1317406" y="0"/>
                  </a:lnTo>
                  <a:cubicBezTo>
                    <a:pt x="1331659" y="0"/>
                    <a:pt x="1343213" y="11554"/>
                    <a:pt x="1343213" y="25806"/>
                  </a:cubicBezTo>
                  <a:lnTo>
                    <a:pt x="1343213" y="267002"/>
                  </a:lnTo>
                  <a:cubicBezTo>
                    <a:pt x="1343213" y="281254"/>
                    <a:pt x="1331659" y="292808"/>
                    <a:pt x="1317406" y="292808"/>
                  </a:cubicBezTo>
                  <a:lnTo>
                    <a:pt x="25806" y="292808"/>
                  </a:lnTo>
                  <a:cubicBezTo>
                    <a:pt x="11554" y="292808"/>
                    <a:pt x="0" y="281254"/>
                    <a:pt x="0" y="267002"/>
                  </a:cubicBezTo>
                  <a:lnTo>
                    <a:pt x="0" y="25806"/>
                  </a:lnTo>
                  <a:cubicBezTo>
                    <a:pt x="0" y="11554"/>
                    <a:pt x="11554" y="0"/>
                    <a:pt x="25806" y="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1343213" cy="349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sz="28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Strategi Operasional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4220357" y="2149222"/>
            <a:ext cx="930836" cy="948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1"/>
              </a:lnSpc>
            </a:pPr>
            <a:r>
              <a:rPr lang="en-US" b="true" sz="5594">
                <a:solidFill>
                  <a:srgbClr val="F3F6FB"/>
                </a:solidFill>
                <a:latin typeface="Inter Bold"/>
                <a:ea typeface="Inter Bold"/>
                <a:cs typeface="Inter Bold"/>
                <a:sym typeface="Inter Bold"/>
              </a:rPr>
              <a:t>1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2159290" y="1779612"/>
            <a:ext cx="5100010" cy="1111756"/>
            <a:chOff x="0" y="0"/>
            <a:chExt cx="1343213" cy="29280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343213" cy="292808"/>
            </a:xfrm>
            <a:custGeom>
              <a:avLst/>
              <a:gdLst/>
              <a:ahLst/>
              <a:cxnLst/>
              <a:rect r="r" b="b" t="t" l="l"/>
              <a:pathLst>
                <a:path h="292808" w="1343213">
                  <a:moveTo>
                    <a:pt x="25806" y="0"/>
                  </a:moveTo>
                  <a:lnTo>
                    <a:pt x="1317406" y="0"/>
                  </a:lnTo>
                  <a:cubicBezTo>
                    <a:pt x="1331659" y="0"/>
                    <a:pt x="1343213" y="11554"/>
                    <a:pt x="1343213" y="25806"/>
                  </a:cubicBezTo>
                  <a:lnTo>
                    <a:pt x="1343213" y="267002"/>
                  </a:lnTo>
                  <a:cubicBezTo>
                    <a:pt x="1343213" y="281254"/>
                    <a:pt x="1331659" y="292808"/>
                    <a:pt x="1317406" y="292808"/>
                  </a:cubicBezTo>
                  <a:lnTo>
                    <a:pt x="25806" y="292808"/>
                  </a:lnTo>
                  <a:cubicBezTo>
                    <a:pt x="11554" y="292808"/>
                    <a:pt x="0" y="281254"/>
                    <a:pt x="0" y="267002"/>
                  </a:cubicBezTo>
                  <a:lnTo>
                    <a:pt x="0" y="25806"/>
                  </a:lnTo>
                  <a:cubicBezTo>
                    <a:pt x="0" y="11554"/>
                    <a:pt x="11554" y="0"/>
                    <a:pt x="25806" y="0"/>
                  </a:cubicBezTo>
                  <a:close/>
                </a:path>
              </a:pathLst>
            </a:custGeom>
            <a:solidFill>
              <a:srgbClr val="2DD4B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1343213" cy="349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059"/>
                </a:lnSpc>
              </a:pPr>
              <a:r>
                <a:rPr lang="en-US" sz="2899">
                  <a:solidFill>
                    <a:srgbClr val="FFFFFF"/>
                  </a:solidFill>
                  <a:latin typeface="Inter"/>
                  <a:ea typeface="Inter"/>
                  <a:cs typeface="Inter"/>
                  <a:sym typeface="Inter"/>
                </a:rPr>
                <a:t>Strategi Marketing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028700" y="8735988"/>
            <a:ext cx="14105650" cy="1012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Insight dari dashboard dapat digunakan untuk membantu pengambilan keputusan bisnis secara lebih efektif dan berbasis data.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47725"/>
            <a:ext cx="9507693" cy="16986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</a:pPr>
            <a:r>
              <a:rPr lang="en-US" sz="9999" b="true">
                <a:solidFill>
                  <a:srgbClr val="1F4FD8"/>
                </a:solidFill>
                <a:latin typeface="Inter Bold"/>
                <a:ea typeface="Inter Bold"/>
                <a:cs typeface="Inter Bold"/>
                <a:sym typeface="Inter Bold"/>
              </a:rPr>
              <a:t>KESIMPULAN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3697203"/>
            <a:ext cx="65317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Hasil Analisis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08251"/>
            <a:ext cx="13848525" cy="850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Dashboard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penjualan berhasil memberikan insight terkait performa bisnis, perilaku pelanggan, produk terlaris, serta pola transaksi berdasarkan waktu dan metode pembayaran.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260850"/>
            <a:ext cx="8746725" cy="172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Coffee Based</a:t>
            </a: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menjadi kategori dengan revenue tertinggi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Americano menjadi produk paling laris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Peak sales terjadi pada pukul 19.00–21.00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• QRIS mendominasi metode pembayaran pelanggan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321425"/>
            <a:ext cx="653175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Value Proyek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6885072"/>
            <a:ext cx="8746725" cy="1289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Proyek ini menunjukkan kemampuan data cleaning, data visualization, exploratory data analysis (EDA), dan business analysis menggunakan Power BI.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44118" y="1547681"/>
            <a:ext cx="13799765" cy="7710619"/>
          </a:xfrm>
          <a:custGeom>
            <a:avLst/>
            <a:gdLst/>
            <a:ahLst/>
            <a:cxnLst/>
            <a:rect r="r" b="b" t="t" l="l"/>
            <a:pathLst>
              <a:path h="7710619" w="13799765">
                <a:moveTo>
                  <a:pt x="0" y="0"/>
                </a:moveTo>
                <a:lnTo>
                  <a:pt x="13799764" y="0"/>
                </a:lnTo>
                <a:lnTo>
                  <a:pt x="13799764" y="7710619"/>
                </a:lnTo>
                <a:lnTo>
                  <a:pt x="0" y="77106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929446" y="276473"/>
            <a:ext cx="6429108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5600" b="true">
                <a:solidFill>
                  <a:srgbClr val="1F4FD8"/>
                </a:solidFill>
                <a:latin typeface="Inter Bold"/>
                <a:ea typeface="Inter Bold"/>
                <a:cs typeface="Inter Bold"/>
                <a:sym typeface="Inter Bold"/>
              </a:rPr>
              <a:t>FULL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DAHKj3uTXJY</dc:identifier>
  <dcterms:modified xsi:type="dcterms:W3CDTF">2011-08-01T06:04:30Z</dcterms:modified>
  <cp:revision>1</cp:revision>
  <dc:title>Toleransi Kopi Sales Performance April</dc:title>
</cp:coreProperties>
</file>